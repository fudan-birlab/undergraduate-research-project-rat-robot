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96" y="4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6nQoBdESy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Hellod035/LeggedLab" TargetMode="External"/><Relationship Id="rId4" Type="http://schemas.openxmlformats.org/officeDocument/2006/relationships/hyperlink" Target="https://github.com/google-deepmind/mujoco_playgroun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F920C5E7-96C7-42A5-95D0-7FDBF0928116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项目总览</a:t>
            </a:r>
            <a:endParaRPr sz="2625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CD5BEB-BE1D-48B8-97BB-B068812413FC}"/>
              </a:ext>
            </a:extLst>
          </p:cNvPr>
          <p:cNvSpPr>
            <a:spLocks noGrp="1"/>
          </p:cNvSpPr>
          <p:nvPr/>
        </p:nvSpPr>
        <p:spPr>
          <a:xfrm>
            <a:off x="11096625" y="61912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8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16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626821C-CAFD-468F-B605-B29CE03F7ABB}"/>
              </a:ext>
            </a:extLst>
          </p:cNvPr>
          <p:cNvSpPr>
            <a:spLocks noGrp="1"/>
          </p:cNvSpPr>
          <p:nvPr/>
        </p:nvSpPr>
        <p:spPr>
          <a:xfrm>
            <a:off x="685800" y="2951333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55E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155E75"/>
                </a:solidFill>
                <a:latin typeface="Microsoft YaHei"/>
                <a:ea typeface="Microsoft YaHei"/>
                <a:cs typeface="Microsoft YaHei"/>
              </a:rPr>
              <a:t>主要方向</a:t>
            </a:r>
            <a:endParaRPr sz="1875" b="1" dirty="0">
              <a:solidFill>
                <a:srgbClr val="155E7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C72A52-FD44-4736-AD53-347A6E8224D8}"/>
              </a:ext>
            </a:extLst>
          </p:cNvPr>
          <p:cNvSpPr>
            <a:spLocks noGrp="1"/>
          </p:cNvSpPr>
          <p:nvPr/>
        </p:nvSpPr>
        <p:spPr>
          <a:xfrm>
            <a:off x="1008969" y="1038225"/>
            <a:ext cx="10174062" cy="1351112"/>
          </a:xfrm>
          <a:prstGeom prst="rect">
            <a:avLst/>
          </a:prstGeom>
          <a:solidFill>
            <a:srgbClr val="FFF3EA"/>
          </a:solidFill>
          <a:ln w="9525">
            <a:solidFill>
              <a:srgbClr val="F1B081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EA84DC-CE8B-4F86-BD1D-780B1F9B56DE}"/>
              </a:ext>
            </a:extLst>
          </p:cNvPr>
          <p:cNvSpPr>
            <a:spLocks noGrp="1"/>
          </p:cNvSpPr>
          <p:nvPr/>
        </p:nvSpPr>
        <p:spPr>
          <a:xfrm>
            <a:off x="1400298" y="1105664"/>
            <a:ext cx="9391404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本课题面向具身智能与仿生机器人研究，以小鼠仿生机器人为实践对象，围绕硬件搭建、仿真建模和运动控制三个环节，逐步实现从机器人平台构建到智能控制验证的完整流程。</a:t>
            </a:r>
            <a:endParaRPr sz="1725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2AFB4A1-D7EC-4D6D-8258-761B36F7891F}"/>
              </a:ext>
            </a:extLst>
          </p:cNvPr>
          <p:cNvSpPr>
            <a:spLocks noGrp="1"/>
          </p:cNvSpPr>
          <p:nvPr/>
        </p:nvSpPr>
        <p:spPr>
          <a:xfrm>
            <a:off x="1400298" y="1816952"/>
            <a:ext cx="9283412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85D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D85D18"/>
                </a:solidFill>
                <a:latin typeface="Microsoft YaHei"/>
                <a:ea typeface="Microsoft YaHei"/>
                <a:cs typeface="Microsoft YaHei"/>
              </a:rPr>
              <a:t>目标</a:t>
            </a:r>
            <a:r>
              <a:rPr sz="1500" b="1" dirty="0">
                <a:solidFill>
                  <a:srgbClr val="D85D18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lang="zh-CN" altLang="en-US" dirty="0"/>
              <a:t>完成可运行、可调试的小鼠仿生机器人平台，为后续仿真建模、智能控制与真机验证提供基础。</a:t>
            </a:r>
            <a:endParaRPr sz="1500" b="1" dirty="0">
              <a:solidFill>
                <a:srgbClr val="D85D1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28037A6-9B73-4668-987A-56A6200FBB17}"/>
              </a:ext>
            </a:extLst>
          </p:cNvPr>
          <p:cNvSpPr>
            <a:spLocks noGrp="1"/>
          </p:cNvSpPr>
          <p:nvPr/>
        </p:nvSpPr>
        <p:spPr>
          <a:xfrm>
            <a:off x="6096000" y="2956095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55E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155E75"/>
                </a:solidFill>
                <a:latin typeface="Microsoft YaHei"/>
                <a:ea typeface="Microsoft YaHei"/>
                <a:cs typeface="Microsoft YaHei"/>
              </a:rPr>
              <a:t>需要学习的</a:t>
            </a:r>
            <a:r>
              <a:rPr lang="zh-CN" altLang="en-US" sz="1875" b="1" dirty="0">
                <a:solidFill>
                  <a:srgbClr val="155E75"/>
                </a:solidFill>
                <a:latin typeface="Microsoft YaHei"/>
                <a:ea typeface="Microsoft YaHei"/>
                <a:cs typeface="Microsoft YaHei"/>
              </a:rPr>
              <a:t>基础知识</a:t>
            </a:r>
            <a:endParaRPr sz="1875" b="1" dirty="0">
              <a:solidFill>
                <a:srgbClr val="155E7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280D252-FE4D-4EE2-B386-CEA00E309589}"/>
              </a:ext>
            </a:extLst>
          </p:cNvPr>
          <p:cNvSpPr>
            <a:spLocks noGrp="1"/>
          </p:cNvSpPr>
          <p:nvPr/>
        </p:nvSpPr>
        <p:spPr>
          <a:xfrm>
            <a:off x="6191250" y="3451395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85D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85D1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2177745-6B73-4192-A2EB-06EAB4C230FD}"/>
              </a:ext>
            </a:extLst>
          </p:cNvPr>
          <p:cNvSpPr>
            <a:spLocks noGrp="1"/>
          </p:cNvSpPr>
          <p:nvPr/>
        </p:nvSpPr>
        <p:spPr>
          <a:xfrm>
            <a:off x="6715125" y="3432345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机械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84F1682-6A45-4D04-B417-1B7103EE86AE}"/>
              </a:ext>
            </a:extLst>
          </p:cNvPr>
          <p:cNvSpPr>
            <a:spLocks noGrp="1"/>
          </p:cNvSpPr>
          <p:nvPr/>
        </p:nvSpPr>
        <p:spPr>
          <a:xfrm>
            <a:off x="8239125" y="345139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8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16B"/>
                </a:solidFill>
                <a:latin typeface="Microsoft YaHei"/>
                <a:ea typeface="Microsoft YaHei"/>
                <a:cs typeface="Microsoft YaHei"/>
              </a:rPr>
              <a:t>结构、装配、传动、材料与加工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53BB932-1769-4E92-88F8-99942D0BFFC4}"/>
              </a:ext>
            </a:extLst>
          </p:cNvPr>
          <p:cNvSpPr>
            <a:spLocks noGrp="1"/>
          </p:cNvSpPr>
          <p:nvPr/>
        </p:nvSpPr>
        <p:spPr>
          <a:xfrm>
            <a:off x="6191250" y="3832395"/>
            <a:ext cx="4953000" cy="9525"/>
          </a:xfrm>
          <a:prstGeom prst="rect">
            <a:avLst/>
          </a:prstGeom>
          <a:solidFill>
            <a:srgbClr val="CAD1D8"/>
          </a:solidFill>
          <a:ln w="0">
            <a:solidFill>
              <a:srgbClr val="CAD1D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98A1B6-E3EE-47FE-9B67-422B7EE09381}"/>
              </a:ext>
            </a:extLst>
          </p:cNvPr>
          <p:cNvSpPr>
            <a:spLocks noGrp="1"/>
          </p:cNvSpPr>
          <p:nvPr/>
        </p:nvSpPr>
        <p:spPr>
          <a:xfrm>
            <a:off x="6191250" y="4003845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85D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85D1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1C00FF5-04A8-4F05-AB0B-5DFAD3B2CAEC}"/>
              </a:ext>
            </a:extLst>
          </p:cNvPr>
          <p:cNvSpPr>
            <a:spLocks noGrp="1"/>
          </p:cNvSpPr>
          <p:nvPr/>
        </p:nvSpPr>
        <p:spPr>
          <a:xfrm>
            <a:off x="6715125" y="3984795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电子电路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CD99012-38C9-4043-BFB3-C0286C9F7E7D}"/>
              </a:ext>
            </a:extLst>
          </p:cNvPr>
          <p:cNvSpPr>
            <a:spLocks noGrp="1"/>
          </p:cNvSpPr>
          <p:nvPr/>
        </p:nvSpPr>
        <p:spPr>
          <a:xfrm>
            <a:off x="8239125" y="400384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8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16B"/>
                </a:solidFill>
                <a:latin typeface="Microsoft YaHei"/>
                <a:ea typeface="Microsoft YaHei"/>
                <a:cs typeface="Microsoft YaHei"/>
              </a:rPr>
              <a:t>供电、驱动、电路连接和硬件调试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963128B-4D5F-4694-B047-3FD940DDEE3E}"/>
              </a:ext>
            </a:extLst>
          </p:cNvPr>
          <p:cNvSpPr>
            <a:spLocks noGrp="1"/>
          </p:cNvSpPr>
          <p:nvPr/>
        </p:nvSpPr>
        <p:spPr>
          <a:xfrm>
            <a:off x="6191250" y="4384845"/>
            <a:ext cx="4953000" cy="9525"/>
          </a:xfrm>
          <a:prstGeom prst="rect">
            <a:avLst/>
          </a:prstGeom>
          <a:solidFill>
            <a:srgbClr val="CAD1D8"/>
          </a:solidFill>
          <a:ln w="0">
            <a:solidFill>
              <a:srgbClr val="CAD1D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744B88E-8F46-44E6-B85B-0817BF4E8F18}"/>
              </a:ext>
            </a:extLst>
          </p:cNvPr>
          <p:cNvSpPr>
            <a:spLocks noGrp="1"/>
          </p:cNvSpPr>
          <p:nvPr/>
        </p:nvSpPr>
        <p:spPr>
          <a:xfrm>
            <a:off x="6191250" y="4556295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85D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85D1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656DE58-B0A1-4725-9C33-21503D01AEBC}"/>
              </a:ext>
            </a:extLst>
          </p:cNvPr>
          <p:cNvSpPr>
            <a:spLocks noGrp="1"/>
          </p:cNvSpPr>
          <p:nvPr/>
        </p:nvSpPr>
        <p:spPr>
          <a:xfrm>
            <a:off x="6715125" y="4537245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嵌入式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BC090F0-FAFC-4693-A27A-FD0327C7F3BC}"/>
              </a:ext>
            </a:extLst>
          </p:cNvPr>
          <p:cNvSpPr>
            <a:spLocks noGrp="1"/>
          </p:cNvSpPr>
          <p:nvPr/>
        </p:nvSpPr>
        <p:spPr>
          <a:xfrm>
            <a:off x="8239125" y="455629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8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16B"/>
                </a:solidFill>
                <a:latin typeface="Microsoft YaHei"/>
                <a:ea typeface="Microsoft YaHei"/>
                <a:cs typeface="Microsoft YaHei"/>
              </a:rPr>
              <a:t>控制器、通信、烧录、底层接口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E924FDE-A171-49E9-AD60-90D4A8D0D63B}"/>
              </a:ext>
            </a:extLst>
          </p:cNvPr>
          <p:cNvSpPr>
            <a:spLocks noGrp="1"/>
          </p:cNvSpPr>
          <p:nvPr/>
        </p:nvSpPr>
        <p:spPr>
          <a:xfrm>
            <a:off x="6191250" y="4937295"/>
            <a:ext cx="4953000" cy="9525"/>
          </a:xfrm>
          <a:prstGeom prst="rect">
            <a:avLst/>
          </a:prstGeom>
          <a:solidFill>
            <a:srgbClr val="CAD1D8"/>
          </a:solidFill>
          <a:ln w="0">
            <a:solidFill>
              <a:srgbClr val="CAD1D8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30B4C5B-9E40-482F-BEE5-A69E8B01E5FF}"/>
              </a:ext>
            </a:extLst>
          </p:cNvPr>
          <p:cNvSpPr>
            <a:spLocks noGrp="1"/>
          </p:cNvSpPr>
          <p:nvPr/>
        </p:nvSpPr>
        <p:spPr>
          <a:xfrm>
            <a:off x="6191250" y="5108745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85D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85D1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AB02743-5A54-4E11-81F2-0047B64B7C6C}"/>
              </a:ext>
            </a:extLst>
          </p:cNvPr>
          <p:cNvSpPr>
            <a:spLocks noGrp="1"/>
          </p:cNvSpPr>
          <p:nvPr/>
        </p:nvSpPr>
        <p:spPr>
          <a:xfrm>
            <a:off x="6715125" y="5089695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运控</a:t>
            </a:r>
            <a:r>
              <a:rPr lang="zh-CN" altLang="en-US" sz="16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算法</a:t>
            </a:r>
            <a:endParaRPr sz="16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7309009-475F-4595-854D-8BACE52A4AD7}"/>
              </a:ext>
            </a:extLst>
          </p:cNvPr>
          <p:cNvSpPr>
            <a:spLocks noGrp="1"/>
          </p:cNvSpPr>
          <p:nvPr/>
        </p:nvSpPr>
        <p:spPr>
          <a:xfrm>
            <a:off x="8239125" y="510874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8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25" dirty="0">
                <a:solidFill>
                  <a:srgbClr val="58616B"/>
                </a:solidFill>
                <a:latin typeface="Microsoft YaHei"/>
                <a:ea typeface="Microsoft YaHei"/>
                <a:cs typeface="Microsoft YaHei"/>
              </a:rPr>
              <a:t>强化学习</a:t>
            </a:r>
            <a:r>
              <a:rPr sz="1425" b="0" dirty="0">
                <a:solidFill>
                  <a:srgbClr val="58616B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425" b="0" dirty="0" err="1">
                <a:solidFill>
                  <a:srgbClr val="58616B"/>
                </a:solidFill>
                <a:latin typeface="Microsoft YaHei"/>
                <a:ea typeface="Microsoft YaHei"/>
                <a:cs typeface="Microsoft YaHei"/>
              </a:rPr>
              <a:t>闭环调节</a:t>
            </a:r>
            <a:endParaRPr sz="1425" b="0" dirty="0">
              <a:solidFill>
                <a:srgbClr val="5861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D27ACDE-EE2F-400D-8D40-792501FC21BF}"/>
              </a:ext>
            </a:extLst>
          </p:cNvPr>
          <p:cNvSpPr>
            <a:spLocks noGrp="1"/>
          </p:cNvSpPr>
          <p:nvPr/>
        </p:nvSpPr>
        <p:spPr>
          <a:xfrm>
            <a:off x="6191250" y="5489745"/>
            <a:ext cx="4953000" cy="9525"/>
          </a:xfrm>
          <a:prstGeom prst="rect">
            <a:avLst/>
          </a:prstGeom>
          <a:solidFill>
            <a:srgbClr val="CAD1D8"/>
          </a:solidFill>
          <a:ln w="0">
            <a:solidFill>
              <a:srgbClr val="CAD1D8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BE7466E-BE0D-44D2-8995-CE27B6EF9111}"/>
              </a:ext>
            </a:extLst>
          </p:cNvPr>
          <p:cNvSpPr>
            <a:spLocks noGrp="1"/>
          </p:cNvSpPr>
          <p:nvPr/>
        </p:nvSpPr>
        <p:spPr>
          <a:xfrm>
            <a:off x="6191250" y="5661195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85D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85D1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DC2C555-BD9F-4466-9C3E-01D9FC982FE9}"/>
              </a:ext>
            </a:extLst>
          </p:cNvPr>
          <p:cNvSpPr>
            <a:spLocks noGrp="1"/>
          </p:cNvSpPr>
          <p:nvPr/>
        </p:nvSpPr>
        <p:spPr>
          <a:xfrm>
            <a:off x="6715125" y="5642145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传感器/电机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164D01F-B144-458E-A0C0-CE55D58D982C}"/>
              </a:ext>
            </a:extLst>
          </p:cNvPr>
          <p:cNvSpPr>
            <a:spLocks noGrp="1"/>
          </p:cNvSpPr>
          <p:nvPr/>
        </p:nvSpPr>
        <p:spPr>
          <a:xfrm>
            <a:off x="8239125" y="566119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8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58616B"/>
                </a:solidFill>
                <a:latin typeface="Microsoft YaHei"/>
                <a:ea typeface="Microsoft YaHei"/>
                <a:cs typeface="Microsoft YaHei"/>
              </a:rPr>
              <a:t>采集、标定、滤波、电机测试</a:t>
            </a:r>
            <a:endParaRPr sz="1425" b="0" dirty="0">
              <a:solidFill>
                <a:srgbClr val="5861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F2410AA-5208-425A-A244-7B65329EF35B}"/>
              </a:ext>
            </a:extLst>
          </p:cNvPr>
          <p:cNvSpPr>
            <a:spLocks noGrp="1"/>
          </p:cNvSpPr>
          <p:nvPr/>
        </p:nvSpPr>
        <p:spPr>
          <a:xfrm>
            <a:off x="685800" y="3627608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85D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85D1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664C3AA-0166-4FD2-BDFA-0275497C0731}"/>
              </a:ext>
            </a:extLst>
          </p:cNvPr>
          <p:cNvSpPr>
            <a:spLocks noGrp="1"/>
          </p:cNvSpPr>
          <p:nvPr/>
        </p:nvSpPr>
        <p:spPr>
          <a:xfrm>
            <a:off x="1209675" y="3608558"/>
            <a:ext cx="362952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小鼠机器人搭建</a:t>
            </a:r>
            <a:endParaRPr sz="16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8C46BE8-7AE0-4CC2-A608-88B8DF977A31}"/>
              </a:ext>
            </a:extLst>
          </p:cNvPr>
          <p:cNvSpPr>
            <a:spLocks noGrp="1"/>
          </p:cNvSpPr>
          <p:nvPr/>
        </p:nvSpPr>
        <p:spPr>
          <a:xfrm>
            <a:off x="685800" y="4008608"/>
            <a:ext cx="4953000" cy="9525"/>
          </a:xfrm>
          <a:prstGeom prst="rect">
            <a:avLst/>
          </a:prstGeom>
          <a:solidFill>
            <a:srgbClr val="CAD1D8"/>
          </a:solidFill>
          <a:ln w="0">
            <a:solidFill>
              <a:srgbClr val="CAD1D8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8CB02B3-C23A-4346-A629-F3952CBB87B1}"/>
              </a:ext>
            </a:extLst>
          </p:cNvPr>
          <p:cNvSpPr>
            <a:spLocks noGrp="1"/>
          </p:cNvSpPr>
          <p:nvPr/>
        </p:nvSpPr>
        <p:spPr>
          <a:xfrm>
            <a:off x="685800" y="4180058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85D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85D1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792637D-DF2B-4FB9-B001-A12EC71A414C}"/>
              </a:ext>
            </a:extLst>
          </p:cNvPr>
          <p:cNvSpPr>
            <a:spLocks noGrp="1"/>
          </p:cNvSpPr>
          <p:nvPr/>
        </p:nvSpPr>
        <p:spPr>
          <a:xfrm>
            <a:off x="1209675" y="4161008"/>
            <a:ext cx="418766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8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CAD</a:t>
            </a:r>
            <a:r>
              <a:rPr lang="zh-CN" altLang="en-US" sz="18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机器人结构设计与搭建</a:t>
            </a:r>
            <a:endParaRPr sz="16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CB25F3B-C9CD-46A0-B9E1-F2730D9425EB}"/>
              </a:ext>
            </a:extLst>
          </p:cNvPr>
          <p:cNvSpPr>
            <a:spLocks noGrp="1"/>
          </p:cNvSpPr>
          <p:nvPr/>
        </p:nvSpPr>
        <p:spPr>
          <a:xfrm>
            <a:off x="685800" y="4561058"/>
            <a:ext cx="4953000" cy="9525"/>
          </a:xfrm>
          <a:prstGeom prst="rect">
            <a:avLst/>
          </a:prstGeom>
          <a:solidFill>
            <a:srgbClr val="CAD1D8"/>
          </a:solidFill>
          <a:ln w="0">
            <a:solidFill>
              <a:srgbClr val="CAD1D8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887E0DE-81A3-4F6C-9EAD-F0A7E7C03510}"/>
              </a:ext>
            </a:extLst>
          </p:cNvPr>
          <p:cNvSpPr>
            <a:spLocks noGrp="1"/>
          </p:cNvSpPr>
          <p:nvPr/>
        </p:nvSpPr>
        <p:spPr>
          <a:xfrm>
            <a:off x="685800" y="4732508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85D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85D1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AD604A2-C0DC-4C2F-B1D2-93CAFB50F2B8}"/>
              </a:ext>
            </a:extLst>
          </p:cNvPr>
          <p:cNvSpPr>
            <a:spLocks noGrp="1"/>
          </p:cNvSpPr>
          <p:nvPr/>
        </p:nvSpPr>
        <p:spPr>
          <a:xfrm>
            <a:off x="1209675" y="4713458"/>
            <a:ext cx="371858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强化学习运动控制</a:t>
            </a:r>
            <a:endParaRPr sz="16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79048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E2A224F0-A454-49F6-A094-AD649BD75FAE}"/>
              </a:ext>
            </a:extLst>
          </p:cNvPr>
          <p:cNvSpPr>
            <a:spLocks noGrp="1"/>
          </p:cNvSpPr>
          <p:nvPr/>
        </p:nvSpPr>
        <p:spPr>
          <a:xfrm>
            <a:off x="647453" y="39951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方向一：小鼠机器人搭建</a:t>
            </a:r>
            <a:endParaRPr sz="200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08DCD57-DEA7-4CEA-BBCF-5992FDF059FD}"/>
              </a:ext>
            </a:extLst>
          </p:cNvPr>
          <p:cNvSpPr>
            <a:spLocks noGrp="1"/>
          </p:cNvSpPr>
          <p:nvPr/>
        </p:nvSpPr>
        <p:spPr>
          <a:xfrm>
            <a:off x="11096625" y="61912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8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1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B26B60E-3231-4622-813F-5E01B47112AC}"/>
              </a:ext>
            </a:extLst>
          </p:cNvPr>
          <p:cNvSpPr>
            <a:spLocks noGrp="1"/>
          </p:cNvSpPr>
          <p:nvPr/>
        </p:nvSpPr>
        <p:spPr>
          <a:xfrm>
            <a:off x="647453" y="227994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方向二</a:t>
            </a:r>
            <a:r>
              <a:rPr sz="20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lang="zh-CN" altLang="en-US" sz="20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机器人结构</a:t>
            </a:r>
            <a:r>
              <a:rPr sz="200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设计</a:t>
            </a:r>
            <a:r>
              <a:rPr lang="zh-CN" altLang="en-US" sz="20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lang="en-US" altLang="zh-CN" sz="20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CAD</a:t>
            </a:r>
            <a:r>
              <a:rPr lang="zh-CN" altLang="en-US" sz="20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建模</a:t>
            </a:r>
            <a:endParaRPr sz="200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CFBB0A5-BF2F-4F37-AC9D-3751CC458E70}"/>
              </a:ext>
            </a:extLst>
          </p:cNvPr>
          <p:cNvSpPr>
            <a:spLocks noGrp="1"/>
          </p:cNvSpPr>
          <p:nvPr/>
        </p:nvSpPr>
        <p:spPr>
          <a:xfrm>
            <a:off x="647453" y="2644651"/>
            <a:ext cx="10668000" cy="9525"/>
          </a:xfrm>
          <a:prstGeom prst="rect">
            <a:avLst/>
          </a:prstGeom>
          <a:solidFill>
            <a:srgbClr val="CAD1D8"/>
          </a:solidFill>
          <a:ln w="0">
            <a:solidFill>
              <a:srgbClr val="CAD1D8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D395D0-3B7E-43D9-9D0D-4257C70C397D}"/>
              </a:ext>
            </a:extLst>
          </p:cNvPr>
          <p:cNvSpPr>
            <a:spLocks noGrp="1"/>
          </p:cNvSpPr>
          <p:nvPr/>
        </p:nvSpPr>
        <p:spPr>
          <a:xfrm>
            <a:off x="647453" y="759029"/>
            <a:ext cx="10668000" cy="9525"/>
          </a:xfrm>
          <a:prstGeom prst="rect">
            <a:avLst/>
          </a:prstGeom>
          <a:solidFill>
            <a:srgbClr val="CAD1D8"/>
          </a:solidFill>
          <a:ln w="0">
            <a:solidFill>
              <a:srgbClr val="CAD1D8"/>
            </a:solidFill>
            <a:prstDash val="solid"/>
          </a:ln>
        </p:spPr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6089AE7-A7A5-402C-8E03-2FA9A454DB9C}"/>
              </a:ext>
            </a:extLst>
          </p:cNvPr>
          <p:cNvSpPr txBox="1"/>
          <p:nvPr/>
        </p:nvSpPr>
        <p:spPr>
          <a:xfrm>
            <a:off x="647453" y="862337"/>
            <a:ext cx="61978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完成小鼠机器人硬件搭建，包括接线、供电、控制器和传感器连接。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调试机器人</a:t>
            </a:r>
            <a:r>
              <a:rPr lang="zh-CN" altLang="en-US" sz="180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，帮助部署运动控制算法</a:t>
            </a:r>
            <a:r>
              <a:rPr lang="zh-CN" altLang="en-US" sz="18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，根据部署效果对机器人进行调试与修改。</a:t>
            </a:r>
          </a:p>
          <a:p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9F09ACD-87E6-4B9A-BD4F-CBACE825AC30}"/>
              </a:ext>
            </a:extLst>
          </p:cNvPr>
          <p:cNvSpPr txBox="1"/>
          <p:nvPr/>
        </p:nvSpPr>
        <p:spPr>
          <a:xfrm>
            <a:off x="647453" y="2775240"/>
            <a:ext cx="61978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学习 </a:t>
            </a:r>
            <a:r>
              <a:rPr lang="en-US" altLang="zh-CN" sz="18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SolidWorks</a:t>
            </a:r>
            <a:r>
              <a:rPr lang="zh-CN" altLang="en-US" sz="18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-US" altLang="zh-CN" sz="18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Onshape</a:t>
            </a:r>
            <a:r>
              <a:rPr lang="zh-CN" altLang="en-US" sz="18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等</a:t>
            </a:r>
            <a:r>
              <a:rPr lang="en-US" altLang="zh-CN" sz="180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3D</a:t>
            </a:r>
            <a:r>
              <a:rPr lang="zh-CN" altLang="en-US" sz="180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建模工具（选其一）。</a:t>
            </a:r>
            <a:r>
              <a:rPr lang="zh-CN" altLang="en-US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对小鼠仿生机器人进行建模</a:t>
            </a:r>
            <a:endParaRPr lang="zh-CN" altLang="en-US" sz="1800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探索 </a:t>
            </a:r>
            <a:r>
              <a:rPr lang="en-US" altLang="zh-CN" sz="18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AI </a:t>
            </a:r>
            <a:r>
              <a:rPr lang="zh-CN" altLang="en-US" sz="18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生成</a:t>
            </a:r>
            <a:r>
              <a:rPr lang="en-US" altLang="zh-CN" sz="18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CAD</a:t>
            </a:r>
            <a:r>
              <a:rPr lang="zh-CN" altLang="en-US" sz="18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文件的方法。</a:t>
            </a:r>
            <a:endParaRPr lang="en-US" altLang="zh-CN" sz="1800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探索对于模拟器中关节参数和域随机化参数</a:t>
            </a:r>
            <a:r>
              <a:rPr lang="zh-CN" altLang="en-US" sz="180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等参数的</a:t>
            </a:r>
            <a:r>
              <a:rPr lang="en-US" altLang="zh-CN" sz="18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AI </a:t>
            </a:r>
            <a:r>
              <a:rPr lang="zh-CN" altLang="en-US" sz="18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辅助确定方法。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61B6719-9D78-4E8B-AE54-4CE25FE52927}"/>
              </a:ext>
            </a:extLst>
          </p:cNvPr>
          <p:cNvSpPr txBox="1"/>
          <p:nvPr/>
        </p:nvSpPr>
        <p:spPr>
          <a:xfrm>
            <a:off x="647453" y="4934754"/>
            <a:ext cx="6197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研究基于深度强化学习（</a:t>
            </a:r>
            <a:r>
              <a:rPr lang="en-US" altLang="zh-CN" sz="18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DRL</a:t>
            </a:r>
            <a:r>
              <a:rPr lang="zh-CN" altLang="en-US" sz="18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）的运动控制算法，训练小鼠机器人的运动策略。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后续部署到真机，完成 </a:t>
            </a:r>
            <a:r>
              <a:rPr lang="en-US" altLang="zh-CN" sz="18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Sim2Real </a:t>
            </a:r>
            <a:r>
              <a:rPr lang="zh-CN" altLang="en-US" sz="18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调试并根据真机表现修正算法。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C3481F4-B69A-400F-9AC9-B6DDBE29F0BE}"/>
              </a:ext>
            </a:extLst>
          </p:cNvPr>
          <p:cNvSpPr>
            <a:spLocks noGrp="1"/>
          </p:cNvSpPr>
          <p:nvPr/>
        </p:nvSpPr>
        <p:spPr>
          <a:xfrm>
            <a:off x="665176" y="4431259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方向</a:t>
            </a:r>
            <a:r>
              <a:rPr lang="zh-CN" altLang="en-US" sz="20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三</a:t>
            </a:r>
            <a:r>
              <a:rPr sz="20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lang="zh-CN" altLang="en-US" sz="20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强化学习运动控制</a:t>
            </a:r>
            <a:endParaRPr sz="200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E41920C-E90C-4091-A900-C307D0939530}"/>
              </a:ext>
            </a:extLst>
          </p:cNvPr>
          <p:cNvSpPr>
            <a:spLocks noGrp="1"/>
          </p:cNvSpPr>
          <p:nvPr/>
        </p:nvSpPr>
        <p:spPr>
          <a:xfrm>
            <a:off x="665176" y="4795970"/>
            <a:ext cx="10668000" cy="9525"/>
          </a:xfrm>
          <a:prstGeom prst="rect">
            <a:avLst/>
          </a:prstGeom>
          <a:solidFill>
            <a:srgbClr val="CAD1D8"/>
          </a:solidFill>
          <a:ln w="0">
            <a:solidFill>
              <a:srgbClr val="CAD1D8"/>
            </a:solidFill>
            <a:prstDash val="solid"/>
          </a:ln>
        </p:spPr>
      </p:sp>
      <p:pic>
        <p:nvPicPr>
          <p:cNvPr id="1026" name="Picture 2" descr="SolidWorks - Drexel Engineering Computing and Technical Services">
            <a:extLst>
              <a:ext uri="{FF2B5EF4-FFF2-40B4-BE49-F238E27FC236}">
                <a16:creationId xmlns:a16="http://schemas.microsoft.com/office/drawing/2014/main" id="{DE71674F-AEC9-4876-8315-FD1CE19EF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4605" y="2700733"/>
            <a:ext cx="2009466" cy="1699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nshape Reviews 2026: Details, Pricing, &amp; Features | G2">
            <a:extLst>
              <a:ext uri="{FF2B5EF4-FFF2-40B4-BE49-F238E27FC236}">
                <a16:creationId xmlns:a16="http://schemas.microsoft.com/office/drawing/2014/main" id="{BD7E2582-8FAD-4909-8FF1-2FC4B73208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51" b="33698"/>
          <a:stretch/>
        </p:blipFill>
        <p:spPr bwMode="auto">
          <a:xfrm>
            <a:off x="8594071" y="3139044"/>
            <a:ext cx="3139511" cy="950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dding a flexible spine and tail makes mouse robot more nimble">
            <a:extLst>
              <a:ext uri="{FF2B5EF4-FFF2-40B4-BE49-F238E27FC236}">
                <a16:creationId xmlns:a16="http://schemas.microsoft.com/office/drawing/2014/main" id="{A5C48DCF-3D4F-4B93-964B-22EEC490F6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170"/>
          <a:stretch/>
        </p:blipFill>
        <p:spPr bwMode="auto">
          <a:xfrm>
            <a:off x="7716929" y="899785"/>
            <a:ext cx="2721382" cy="1533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Banner for playground">
            <a:extLst>
              <a:ext uri="{FF2B5EF4-FFF2-40B4-BE49-F238E27FC236}">
                <a16:creationId xmlns:a16="http://schemas.microsoft.com/office/drawing/2014/main" id="{9EEB07D1-EE24-4DB3-8A84-74F3432C1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1777" y="5090618"/>
            <a:ext cx="3948223" cy="987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5712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AB4B423-210A-4A37-8FE6-1715262EE0BF}"/>
              </a:ext>
            </a:extLst>
          </p:cNvPr>
          <p:cNvSpPr>
            <a:spLocks noGrp="1"/>
          </p:cNvSpPr>
          <p:nvPr/>
        </p:nvSpPr>
        <p:spPr>
          <a:xfrm>
            <a:off x="11096625" y="61912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8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1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47CF51B-2D82-4ADE-805F-C55E5880E421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625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学习资料</a:t>
            </a:r>
            <a:endParaRPr sz="2625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9E40B7C-5484-4FFB-8A95-19C24FBEE260}"/>
              </a:ext>
            </a:extLst>
          </p:cNvPr>
          <p:cNvSpPr txBox="1"/>
          <p:nvPr/>
        </p:nvSpPr>
        <p:spPr>
          <a:xfrm>
            <a:off x="552450" y="1084520"/>
            <a:ext cx="1083812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 dirty="0"/>
              <a:t>小鼠仿生机器人模型论文</a:t>
            </a:r>
            <a:r>
              <a:rPr lang="en-US" altLang="zh-CN" sz="2400" b="1" dirty="0"/>
              <a:t>——</a:t>
            </a:r>
            <a:r>
              <a:rPr lang="zh-CN" altLang="en-US" sz="2400" b="1" dirty="0"/>
              <a:t>所有同学需要熟悉</a:t>
            </a:r>
            <a:endParaRPr lang="en-US" altLang="zh-CN" sz="24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Bing, </a:t>
            </a:r>
            <a:r>
              <a:rPr lang="en-US" altLang="zh-C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Zhenshan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et al. "Lateral flexion of a compliant spine improves motor performance in a bioinspired mouse robot." </a:t>
            </a:r>
            <a:r>
              <a:rPr lang="en-US" altLang="zh-CN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Science Robotics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8.85 (2023): eadg7165.</a:t>
            </a:r>
            <a:endParaRPr lang="en-US" altLang="zh-CN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1" dirty="0"/>
              <a:t>SolidWorks</a:t>
            </a:r>
            <a:r>
              <a:rPr lang="zh-CN" altLang="en-US" sz="2400" b="1" dirty="0"/>
              <a:t>等建模软件学习</a:t>
            </a:r>
            <a:endParaRPr lang="en-US" altLang="zh-CN" sz="24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hlinkClick r:id="rId3"/>
              </a:rPr>
              <a:t>https://www.bilibili.com/video/BV16nQoBdESy/</a:t>
            </a:r>
            <a:r>
              <a:rPr lang="zh-CN" altLang="en-US" dirty="0"/>
              <a:t>或类似</a:t>
            </a:r>
            <a:r>
              <a:rPr lang="en-US" altLang="zh-CN" dirty="0"/>
              <a:t>b</a:t>
            </a:r>
            <a:r>
              <a:rPr lang="zh-CN" altLang="en-US" dirty="0"/>
              <a:t>站教学视频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 dirty="0"/>
              <a:t>强化学习运动控制算法学习</a:t>
            </a:r>
            <a:endParaRPr lang="en-US" altLang="zh-CN" sz="24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hlinkClick r:id="rId4"/>
              </a:rPr>
              <a:t>https://github.com/google-deepmind/mujoco_playground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hlinkClick r:id="rId5"/>
              </a:rPr>
              <a:t>https://github.com/Hellod035/LeggedLab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 dirty="0"/>
              <a:t>嵌入式</a:t>
            </a:r>
            <a:r>
              <a:rPr lang="en-US" altLang="zh-CN" sz="2400" b="1" dirty="0"/>
              <a:t> &amp; </a:t>
            </a:r>
            <a:r>
              <a:rPr lang="zh-CN" altLang="en-US" sz="2400" b="1" dirty="0"/>
              <a:t>电子电路</a:t>
            </a:r>
            <a:endParaRPr lang="en-US" altLang="zh-CN" sz="24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群内压缩包与</a:t>
            </a:r>
            <a:r>
              <a:rPr lang="en-US" altLang="zh-CN" b="1" dirty="0"/>
              <a:t>PPT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3015461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380</Words>
  <Application>Microsoft Office PowerPoint</Application>
  <DocSecurity>0</DocSecurity>
  <PresentationFormat>宽屏</PresentationFormat>
  <Paragraphs>49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Microsoft YaHei</vt:lpstr>
      <vt:lpstr>Arial</vt:lpstr>
      <vt:lpstr>Calibri</vt:lpstr>
      <vt:lpstr>ChatGPT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懿铉 陈</cp:lastModifiedBy>
  <cp:revision>9</cp:revision>
  <dcterms:created xsi:type="dcterms:W3CDTF">2026-07-09T14:49:59Z</dcterms:created>
  <dcterms:modified xsi:type="dcterms:W3CDTF">2026-07-09T16:45:01Z</dcterms:modified>
</cp:coreProperties>
</file>