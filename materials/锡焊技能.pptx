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2" r:id="rId2"/>
  </p:sldMasterIdLst>
  <p:notesMasterIdLst>
    <p:notesMasterId r:id="rId29"/>
  </p:notesMasterIdLst>
  <p:handoutMasterIdLst>
    <p:handoutMasterId r:id="rId30"/>
  </p:handoutMasterIdLst>
  <p:sldIdLst>
    <p:sldId id="308" r:id="rId3"/>
    <p:sldId id="373" r:id="rId4"/>
    <p:sldId id="362" r:id="rId5"/>
    <p:sldId id="374" r:id="rId6"/>
    <p:sldId id="375" r:id="rId7"/>
    <p:sldId id="394" r:id="rId8"/>
    <p:sldId id="395" r:id="rId9"/>
    <p:sldId id="376" r:id="rId10"/>
    <p:sldId id="392" r:id="rId11"/>
    <p:sldId id="377" r:id="rId12"/>
    <p:sldId id="378" r:id="rId13"/>
    <p:sldId id="396" r:id="rId14"/>
    <p:sldId id="393" r:id="rId15"/>
    <p:sldId id="379" r:id="rId16"/>
    <p:sldId id="380" r:id="rId17"/>
    <p:sldId id="381" r:id="rId18"/>
    <p:sldId id="383" r:id="rId19"/>
    <p:sldId id="384" r:id="rId20"/>
    <p:sldId id="386" r:id="rId21"/>
    <p:sldId id="385" r:id="rId22"/>
    <p:sldId id="387" r:id="rId23"/>
    <p:sldId id="388" r:id="rId24"/>
    <p:sldId id="389" r:id="rId25"/>
    <p:sldId id="390" r:id="rId26"/>
    <p:sldId id="391" r:id="rId27"/>
    <p:sldId id="339" r:id="rId28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华文新魏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F50"/>
    <a:srgbClr val="CADDE4"/>
    <a:srgbClr val="9BC0CD"/>
    <a:srgbClr val="CFE8FD"/>
    <a:srgbClr val="CCCCFF"/>
    <a:srgbClr val="99CCFF"/>
    <a:srgbClr val="FF0000"/>
    <a:srgbClr val="BEB8EA"/>
    <a:srgbClr val="D5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80962" autoAdjust="0"/>
  </p:normalViewPr>
  <p:slideViewPr>
    <p:cSldViewPr snapToGrid="0">
      <p:cViewPr varScale="1">
        <p:scale>
          <a:sx n="70" d="100"/>
          <a:sy n="70" d="100"/>
        </p:scale>
        <p:origin x="19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3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3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3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9D67D9BA-E5AB-4005-8369-BAF6D7DF13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5525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F9726E04-01CA-4335-BD81-520F242FF28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6798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5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0495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5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223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3440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05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073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https://bbs.elecfans.com/jishu_1151320_1_1.html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6085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此处可演示吗？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3321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张力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7707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https://www.bilibili.com/video/BV1mN411k7GM/?spm_id_from=333.337.top_right_bar_window_history.content.click&amp;vd_source=f4dd3e105766a225dcf25e24b5da094a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583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https://www.bilibili.com/video/BV1dJ411D7EN/?spm_id_from=333.788.recommend_more_video.-1&amp;vd_source=f4dd3e105766a225dcf25e24b5da094a</a:t>
            </a:r>
          </a:p>
          <a:p>
            <a:endParaRPr lang="en-US" altLang="zh-CN" dirty="0"/>
          </a:p>
          <a:p>
            <a:r>
              <a:rPr lang="en-US" altLang="zh-CN" dirty="0"/>
              <a:t>https://www.bilibili.com/video/BV1wr421H7S2/?spm_id_from=333.337.search-card.all.click&amp;vd_source=f4dd3e105766a225dcf25e24b5da094a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4427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https://www.bilibili.com/video/BV1qJ411B7Am/?spm_id_from=333.337.search-card.all.click&amp;vd_source=f4dd3e105766a225dcf25e24b5da094a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734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https://www.bilibili.com/video/BV15J4119759/?spm_id_from=333.788.top_right_bar_window_history.content.click&amp;vd_source=f4dd3e105766a225dcf25e24b5da094a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266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711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https://www.bilibili.com/video/BV1wA411q7P2/?spm_id_from=333.788.recommend_more_video.-1&amp;vd_source=f4dd3e105766a225dcf25e24b5da094a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0575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26E04-01CA-4335-BD81-520F242FF28A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241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>
            <a:spLocks noChangeArrowheads="1"/>
          </p:cNvSpPr>
          <p:nvPr/>
        </p:nvSpPr>
        <p:spPr bwMode="hidden">
          <a:xfrm>
            <a:off x="0" y="6415088"/>
            <a:ext cx="9144000" cy="44291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</p:txBody>
      </p:sp>
      <p:pic>
        <p:nvPicPr>
          <p:cNvPr id="5" name="Picture 34" descr="fuda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6478588"/>
            <a:ext cx="9556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2" descr="fudanTu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063" y="301625"/>
            <a:ext cx="1041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>
            <a:cxnSpLocks noChangeShapeType="1"/>
          </p:cNvCxnSpPr>
          <p:nvPr userDrawn="1"/>
        </p:nvCxnSpPr>
        <p:spPr bwMode="auto">
          <a:xfrm>
            <a:off x="469900" y="1457325"/>
            <a:ext cx="8229600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46"/>
          <p:cNvSpPr>
            <a:spLocks noChangeArrowheads="1"/>
          </p:cNvSpPr>
          <p:nvPr userDrawn="1"/>
        </p:nvSpPr>
        <p:spPr bwMode="auto">
          <a:xfrm>
            <a:off x="4527550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fld id="{67932861-4EEB-44DC-9F7E-D1256549AB42}" type="slidenum">
              <a:rPr lang="zh-CN" altLang="en-US" sz="900" b="1">
                <a:solidFill>
                  <a:schemeClr val="bg1"/>
                </a:solidFill>
                <a:ea typeface="宋体" charset="-122"/>
              </a:rPr>
              <a:pPr/>
              <a:t>‹#›</a:t>
            </a:fld>
            <a:endParaRPr lang="en-US" altLang="zh-CN" sz="900" b="1">
              <a:solidFill>
                <a:schemeClr val="bg1"/>
              </a:solidFill>
              <a:ea typeface="宋体" charset="-122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89000" y="3619500"/>
            <a:ext cx="7810500" cy="1587500"/>
          </a:xfrm>
        </p:spPr>
        <p:txBody>
          <a:bodyPr lIns="92035" tIns="46019" rIns="92035" bIns="46019"/>
          <a:lstStyle>
            <a:lvl1pPr marL="0" indent="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Name</a:t>
            </a:r>
          </a:p>
          <a:p>
            <a:r>
              <a:rPr lang="en-US" altLang="zh-CN"/>
              <a:t>Title</a:t>
            </a:r>
          </a:p>
          <a:p>
            <a:r>
              <a:rPr lang="en-US" altLang="zh-CN"/>
              <a:t>Department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28688" y="1957388"/>
            <a:ext cx="7754937" cy="1471612"/>
          </a:xfrm>
        </p:spPr>
        <p:txBody>
          <a:bodyPr lIns="64264" tIns="32131" rIns="64264" bIns="32131"/>
          <a:lstStyle>
            <a:lvl1pPr algn="r"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4661E4-933D-ABED-BF94-68BC379AE1B2}"/>
              </a:ext>
            </a:extLst>
          </p:cNvPr>
          <p:cNvSpPr txBox="1"/>
          <p:nvPr userDrawn="1"/>
        </p:nvSpPr>
        <p:spPr>
          <a:xfrm>
            <a:off x="432882" y="6497221"/>
            <a:ext cx="2631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lectronic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eek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ssociation</a:t>
            </a:r>
            <a:endParaRPr lang="zh-CN" altLang="en-US" dirty="0">
              <a:solidFill>
                <a:schemeClr val="bg1"/>
              </a:solidFill>
              <a:latin typeface="High Tower Text" panose="02040502050506030303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F006AFFC-3AD1-45E6-BB6B-B86A2EF337D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48" y="6497221"/>
            <a:ext cx="292560" cy="33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102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69913" indent="-225425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914400" indent="-225425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382713" indent="-239713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1727200" indent="-230188"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851133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5285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66713" y="1431925"/>
            <a:ext cx="4127500" cy="455771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31925"/>
            <a:ext cx="4127500" cy="455771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8822748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30368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751792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8341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3221402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776437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967703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913" y="300038"/>
            <a:ext cx="2108200" cy="5689600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1313" y="300038"/>
            <a:ext cx="6172200" cy="5689600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951449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41313" y="300038"/>
            <a:ext cx="8410575" cy="7747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66713" y="1431925"/>
            <a:ext cx="4127500" cy="22018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6613" y="1431925"/>
            <a:ext cx="4127500" cy="22018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66713" y="3786188"/>
            <a:ext cx="4127500" cy="22034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6613" y="3786188"/>
            <a:ext cx="4127500" cy="22034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495583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4345820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3397720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243294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2552837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74303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5225173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56286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848315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7208084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154829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114032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7" name="Rectangle 33"/>
          <p:cNvSpPr>
            <a:spLocks noChangeArrowheads="1"/>
          </p:cNvSpPr>
          <p:nvPr userDrawn="1"/>
        </p:nvSpPr>
        <p:spPr bwMode="hidden">
          <a:xfrm>
            <a:off x="0" y="6415088"/>
            <a:ext cx="9144000" cy="44291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1431925"/>
            <a:ext cx="8407400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300038"/>
            <a:ext cx="84105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>
            <a:off x="4527550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fld id="{659D1AE9-AE0E-45AF-AD4C-CDDF8D02C052}" type="slidenum">
              <a:rPr lang="zh-CN" altLang="en-US" sz="900" b="1">
                <a:solidFill>
                  <a:schemeClr val="bg1"/>
                </a:solidFill>
                <a:ea typeface="宋体" charset="-122"/>
              </a:rPr>
              <a:pPr/>
              <a:t>‹#›</a:t>
            </a:fld>
            <a:endParaRPr lang="en-US" altLang="zh-CN" sz="900" b="1">
              <a:solidFill>
                <a:schemeClr val="bg1"/>
              </a:solidFill>
              <a:ea typeface="宋体" charset="-122"/>
            </a:endParaRPr>
          </a:p>
        </p:txBody>
      </p:sp>
      <p:pic>
        <p:nvPicPr>
          <p:cNvPr id="1031" name="Picture 36" descr="fudan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6478588"/>
            <a:ext cx="9556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2" name="Straight Connector 6"/>
          <p:cNvCxnSpPr>
            <a:cxnSpLocks noChangeShapeType="1"/>
          </p:cNvCxnSpPr>
          <p:nvPr userDrawn="1"/>
        </p:nvCxnSpPr>
        <p:spPr bwMode="auto">
          <a:xfrm>
            <a:off x="457200" y="1066800"/>
            <a:ext cx="8229600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ACE33DA-F9EF-1788-66A3-E7A6F974578F}"/>
              </a:ext>
            </a:extLst>
          </p:cNvPr>
          <p:cNvSpPr txBox="1"/>
          <p:nvPr userDrawn="1"/>
        </p:nvSpPr>
        <p:spPr>
          <a:xfrm>
            <a:off x="432882" y="6497221"/>
            <a:ext cx="2631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lectronic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eek </a:t>
            </a:r>
            <a:r>
              <a:rPr lang="en-US" altLang="zh-CN" b="1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High Tower Text" panose="02040502050506030303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ssociation</a:t>
            </a:r>
            <a:endParaRPr lang="zh-CN" altLang="en-US" dirty="0">
              <a:solidFill>
                <a:schemeClr val="bg1"/>
              </a:solidFill>
              <a:latin typeface="High Tower Text" panose="02040502050506030303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593BFF0A-C189-70E8-7DB3-06A227650D5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748" y="6497221"/>
            <a:ext cx="292560" cy="3368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华文新魏" pitchFamily="2" charset="-122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华文新魏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华文新魏" pitchFamily="2" charset="-122"/>
          <a:ea typeface="华文新魏" pitchFamily="2" charset="-122"/>
          <a:cs typeface="Arial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Char char=""/>
        <a:defRPr sz="2800">
          <a:solidFill>
            <a:schemeClr val="tx1"/>
          </a:solidFill>
          <a:latin typeface="+mn-lt"/>
          <a:ea typeface="+mn-ea"/>
          <a:cs typeface="华文新魏" pitchFamily="2" charset="-122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Char char="–"/>
        <a:defRPr sz="2400">
          <a:solidFill>
            <a:schemeClr val="tx1"/>
          </a:solidFill>
          <a:latin typeface="+mn-lt"/>
          <a:ea typeface="+mn-ea"/>
          <a:cs typeface="华文新魏" pitchFamily="2" charset="-122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Times New Roman" pitchFamily="18" charset="0"/>
        <a:buChar char="•"/>
        <a:defRPr sz="2200">
          <a:solidFill>
            <a:schemeClr val="tx1"/>
          </a:solidFill>
          <a:latin typeface="+mn-lt"/>
          <a:ea typeface="+mn-ea"/>
          <a:cs typeface="华文新魏" pitchFamily="2" charset="-122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华文新魏" pitchFamily="2" charset="-122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华文新魏" pitchFamily="2" charset="-122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4" name="Rectangle 16"/>
          <p:cNvSpPr>
            <a:spLocks noChangeArrowheads="1"/>
          </p:cNvSpPr>
          <p:nvPr userDrawn="1"/>
        </p:nvSpPr>
        <p:spPr bwMode="hidden">
          <a:xfrm>
            <a:off x="0" y="6415088"/>
            <a:ext cx="9144000" cy="442912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</p:txBody>
      </p:sp>
      <p:pic>
        <p:nvPicPr>
          <p:cNvPr id="2051" name="Picture 14" descr="DSPTLab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3500"/>
            <a:ext cx="3097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15" descr="fudan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6478588"/>
            <a:ext cx="9556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5" name="Rectangle 17"/>
          <p:cNvSpPr>
            <a:spLocks noChangeArrowheads="1"/>
          </p:cNvSpPr>
          <p:nvPr userDrawn="1"/>
        </p:nvSpPr>
        <p:spPr bwMode="auto">
          <a:xfrm>
            <a:off x="4527550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fld id="{96B6737D-6609-4CCD-9A49-1F80E89ED588}" type="slidenum">
              <a:rPr lang="zh-CN" altLang="en-US" sz="900" b="1">
                <a:solidFill>
                  <a:schemeClr val="bg1"/>
                </a:solidFill>
                <a:ea typeface="宋体" charset="-122"/>
              </a:rPr>
              <a:pPr/>
              <a:t>‹#›</a:t>
            </a:fld>
            <a:endParaRPr lang="en-US" altLang="zh-CN" sz="900" b="1">
              <a:solidFill>
                <a:schemeClr val="bg1"/>
              </a:solidFill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  <a:cs typeface="Arial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4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200">
          <a:solidFill>
            <a:schemeClr val="tx1"/>
          </a:solidFill>
          <a:latin typeface="+mn-lt"/>
          <a:cs typeface="+mn-cs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98463" y="642938"/>
            <a:ext cx="5994400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64" tIns="32131" rIns="64264" bIns="32131" anchor="ctr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华文新魏" pitchFamily="2" charset="-122"/>
              </a:rPr>
              <a:t> </a:t>
            </a:r>
          </a:p>
        </p:txBody>
      </p:sp>
      <p:sp>
        <p:nvSpPr>
          <p:cNvPr id="5" name="文本框 6"/>
          <p:cNvSpPr txBox="1">
            <a:spLocks noChangeArrowheads="1"/>
          </p:cNvSpPr>
          <p:nvPr/>
        </p:nvSpPr>
        <p:spPr bwMode="auto">
          <a:xfrm>
            <a:off x="3453745" y="2721114"/>
            <a:ext cx="22365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2C34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锡焊技能</a:t>
            </a:r>
          </a:p>
        </p:txBody>
      </p:sp>
    </p:spTree>
    <p:extLst>
      <p:ext uri="{BB962C8B-B14F-4D97-AF65-F5344CB8AC3E}">
        <p14:creationId xmlns:p14="http://schemas.microsoft.com/office/powerpoint/2010/main" val="206943217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98463" y="642938"/>
            <a:ext cx="5994400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64" tIns="32131" rIns="64264" bIns="32131" anchor="ctr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华文新魏" pitchFamily="2" charset="-122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5A94BA-044D-B025-34D5-9A4E5C1C55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8" t="29105" r="12259" b="23643"/>
          <a:stretch/>
        </p:blipFill>
        <p:spPr>
          <a:xfrm>
            <a:off x="85703" y="2133601"/>
            <a:ext cx="7410472" cy="22934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38D561-09CA-9B82-F60F-CCC7176DC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144" y="2786499"/>
            <a:ext cx="856818" cy="85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2154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3353" y="300038"/>
            <a:ext cx="8410575" cy="774700"/>
          </a:xfrm>
        </p:spPr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何处需要焊接</a:t>
            </a:r>
          </a:p>
        </p:txBody>
      </p:sp>
      <p:sp>
        <p:nvSpPr>
          <p:cNvPr id="12" name="标注: 线形(带强调线) 11">
            <a:extLst>
              <a:ext uri="{FF2B5EF4-FFF2-40B4-BE49-F238E27FC236}">
                <a16:creationId xmlns:a16="http://schemas.microsoft.com/office/drawing/2014/main" id="{E2878B4E-C0FC-6597-D068-D109F0A3A0D0}"/>
              </a:ext>
            </a:extLst>
          </p:cNvPr>
          <p:cNvSpPr/>
          <p:nvPr/>
        </p:nvSpPr>
        <p:spPr>
          <a:xfrm>
            <a:off x="5262995" y="3158838"/>
            <a:ext cx="836469" cy="561109"/>
          </a:xfrm>
          <a:prstGeom prst="accentCallout1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标注: 弯曲线形(带强调线) 12">
            <a:extLst>
              <a:ext uri="{FF2B5EF4-FFF2-40B4-BE49-F238E27FC236}">
                <a16:creationId xmlns:a16="http://schemas.microsoft.com/office/drawing/2014/main" id="{A7E27D1C-8CA1-0EA7-B65E-1967BDFDB815}"/>
              </a:ext>
            </a:extLst>
          </p:cNvPr>
          <p:cNvSpPr/>
          <p:nvPr/>
        </p:nvSpPr>
        <p:spPr>
          <a:xfrm>
            <a:off x="5689023" y="3382242"/>
            <a:ext cx="914400" cy="612648"/>
          </a:xfrm>
          <a:prstGeom prst="accentCallout2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标注: 线形(带强调线) 13">
            <a:extLst>
              <a:ext uri="{FF2B5EF4-FFF2-40B4-BE49-F238E27FC236}">
                <a16:creationId xmlns:a16="http://schemas.microsoft.com/office/drawing/2014/main" id="{A7500B32-CE5B-0844-FF10-67F59CFA49D6}"/>
              </a:ext>
            </a:extLst>
          </p:cNvPr>
          <p:cNvSpPr/>
          <p:nvPr/>
        </p:nvSpPr>
        <p:spPr>
          <a:xfrm>
            <a:off x="5008418" y="1298864"/>
            <a:ext cx="914400" cy="612648"/>
          </a:xfrm>
          <a:prstGeom prst="accentCallout1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标注: 线形(带强调线) 14">
            <a:extLst>
              <a:ext uri="{FF2B5EF4-FFF2-40B4-BE49-F238E27FC236}">
                <a16:creationId xmlns:a16="http://schemas.microsoft.com/office/drawing/2014/main" id="{D82B9A23-E2DF-1D9E-415B-41C7AFEA5DC7}"/>
              </a:ext>
            </a:extLst>
          </p:cNvPr>
          <p:cNvSpPr/>
          <p:nvPr/>
        </p:nvSpPr>
        <p:spPr>
          <a:xfrm>
            <a:off x="4925291" y="3158838"/>
            <a:ext cx="914400" cy="612648"/>
          </a:xfrm>
          <a:prstGeom prst="accentCallout1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F318E-AB84-1EE5-96AE-CB3ED26FAB61}"/>
              </a:ext>
            </a:extLst>
          </p:cNvPr>
          <p:cNvSpPr txBox="1"/>
          <p:nvPr/>
        </p:nvSpPr>
        <p:spPr>
          <a:xfrm>
            <a:off x="460421" y="1292317"/>
            <a:ext cx="32595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导线间</a:t>
            </a:r>
            <a:endParaRPr lang="en-US" altLang="zh-CN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PCB</a:t>
            </a: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板</a:t>
            </a:r>
            <a:endParaRPr lang="en-US" altLang="zh-CN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洞洞板</a:t>
            </a:r>
          </a:p>
        </p:txBody>
      </p:sp>
      <p:pic>
        <p:nvPicPr>
          <p:cNvPr id="1026" name="Picture 2" descr="电路板电子芯片高清摄影大图-千库网">
            <a:extLst>
              <a:ext uri="{FF2B5EF4-FFF2-40B4-BE49-F238E27FC236}">
                <a16:creationId xmlns:a16="http://schemas.microsoft.com/office/drawing/2014/main" id="{47FC36FF-48E7-6653-99D4-4ADC15502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030" y="1109781"/>
            <a:ext cx="3730088" cy="248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8*12cm单面喷锡 1.6T 2.54间距 万能板 实验板 洞洞板 PCB 电路板-阿里巴巴">
            <a:extLst>
              <a:ext uri="{FF2B5EF4-FFF2-40B4-BE49-F238E27FC236}">
                <a16:creationId xmlns:a16="http://schemas.microsoft.com/office/drawing/2014/main" id="{DE0FE11D-8756-FA60-323E-F04913ADE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71" y="3703371"/>
            <a:ext cx="4266334" cy="252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CFBBF43-CD3E-0194-19BE-15C904899099}"/>
              </a:ext>
            </a:extLst>
          </p:cNvPr>
          <p:cNvSpPr txBox="1"/>
          <p:nvPr/>
        </p:nvSpPr>
        <p:spPr>
          <a:xfrm>
            <a:off x="460421" y="467488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电路连接的地方</a:t>
            </a:r>
          </a:p>
        </p:txBody>
      </p:sp>
    </p:spTree>
    <p:extLst>
      <p:ext uri="{BB962C8B-B14F-4D97-AF65-F5344CB8AC3E}">
        <p14:creationId xmlns:p14="http://schemas.microsoft.com/office/powerpoint/2010/main" val="3931265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3353" y="300038"/>
            <a:ext cx="8410575" cy="774700"/>
          </a:xfrm>
        </p:spPr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焊接用具</a:t>
            </a:r>
          </a:p>
        </p:txBody>
      </p:sp>
      <p:sp>
        <p:nvSpPr>
          <p:cNvPr id="12" name="标注: 线形(带强调线) 11">
            <a:extLst>
              <a:ext uri="{FF2B5EF4-FFF2-40B4-BE49-F238E27FC236}">
                <a16:creationId xmlns:a16="http://schemas.microsoft.com/office/drawing/2014/main" id="{E2878B4E-C0FC-6597-D068-D109F0A3A0D0}"/>
              </a:ext>
            </a:extLst>
          </p:cNvPr>
          <p:cNvSpPr/>
          <p:nvPr/>
        </p:nvSpPr>
        <p:spPr>
          <a:xfrm>
            <a:off x="5262995" y="3158838"/>
            <a:ext cx="836469" cy="561109"/>
          </a:xfrm>
          <a:prstGeom prst="accentCallout1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标注: 弯曲线形(带强调线) 12">
            <a:extLst>
              <a:ext uri="{FF2B5EF4-FFF2-40B4-BE49-F238E27FC236}">
                <a16:creationId xmlns:a16="http://schemas.microsoft.com/office/drawing/2014/main" id="{A7E27D1C-8CA1-0EA7-B65E-1967BDFDB815}"/>
              </a:ext>
            </a:extLst>
          </p:cNvPr>
          <p:cNvSpPr/>
          <p:nvPr/>
        </p:nvSpPr>
        <p:spPr>
          <a:xfrm>
            <a:off x="5689023" y="3382242"/>
            <a:ext cx="914400" cy="612648"/>
          </a:xfrm>
          <a:prstGeom prst="accentCallout2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标注: 线形(带强调线) 13">
            <a:extLst>
              <a:ext uri="{FF2B5EF4-FFF2-40B4-BE49-F238E27FC236}">
                <a16:creationId xmlns:a16="http://schemas.microsoft.com/office/drawing/2014/main" id="{A7500B32-CE5B-0844-FF10-67F59CFA49D6}"/>
              </a:ext>
            </a:extLst>
          </p:cNvPr>
          <p:cNvSpPr/>
          <p:nvPr/>
        </p:nvSpPr>
        <p:spPr>
          <a:xfrm>
            <a:off x="5008418" y="1298864"/>
            <a:ext cx="914400" cy="612648"/>
          </a:xfrm>
          <a:prstGeom prst="accentCallout1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标注: 线形(带强调线) 14">
            <a:extLst>
              <a:ext uri="{FF2B5EF4-FFF2-40B4-BE49-F238E27FC236}">
                <a16:creationId xmlns:a16="http://schemas.microsoft.com/office/drawing/2014/main" id="{D82B9A23-E2DF-1D9E-415B-41C7AFEA5DC7}"/>
              </a:ext>
            </a:extLst>
          </p:cNvPr>
          <p:cNvSpPr/>
          <p:nvPr/>
        </p:nvSpPr>
        <p:spPr>
          <a:xfrm>
            <a:off x="4925291" y="3158838"/>
            <a:ext cx="914400" cy="612648"/>
          </a:xfrm>
          <a:prstGeom prst="accentCallout1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sz="900" kern="0" dirty="0">
              <a:solidFill>
                <a:prstClr val="black">
                  <a:lumMod val="85000"/>
                  <a:lumOff val="15000"/>
                </a:prstClr>
              </a:solidFill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50" name="Picture 2" descr="甘肃无铅锡线厂家_甘肃6337焊锡丝_甘肃环保焊锡丝厂家_甘肃无铅锡丝厂家">
            <a:extLst>
              <a:ext uri="{FF2B5EF4-FFF2-40B4-BE49-F238E27FC236}">
                <a16:creationId xmlns:a16="http://schemas.microsoft.com/office/drawing/2014/main" id="{917B3023-C18D-708E-A055-21514CDF1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487" y="2103326"/>
            <a:ext cx="2588447" cy="211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40w欧标高档电烙铁 外热式电烙铁 生产厂家-阿里巴巴">
            <a:extLst>
              <a:ext uri="{FF2B5EF4-FFF2-40B4-BE49-F238E27FC236}">
                <a16:creationId xmlns:a16="http://schemas.microsoft.com/office/drawing/2014/main" id="{78805055-0EB2-4D3B-5944-D90205730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724" y="1911512"/>
            <a:ext cx="3025789" cy="238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维修佬 无卤素助焊膏 BGA返修焊锡松香膏维修焊接焊油免洗助焊剂-阿里巴巴">
            <a:extLst>
              <a:ext uri="{FF2B5EF4-FFF2-40B4-BE49-F238E27FC236}">
                <a16:creationId xmlns:a16="http://schemas.microsoft.com/office/drawing/2014/main" id="{7B9D4C3E-05E2-21C6-355E-9AA1E5FE3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029" y="2706684"/>
            <a:ext cx="3268589" cy="202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热风枪 热风台 850A热风枪拆焊台 型号：DADI 850A-阿里巴巴">
            <a:extLst>
              <a:ext uri="{FF2B5EF4-FFF2-40B4-BE49-F238E27FC236}">
                <a16:creationId xmlns:a16="http://schemas.microsoft.com/office/drawing/2014/main" id="{5F361FD6-6368-022A-858C-936BDBD57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153" y="1799281"/>
            <a:ext cx="3429683" cy="241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松香块 助焊剂松香 防滑松香粉 盒装松香 焊接松香块_杭州耐王科技有限公司">
            <a:extLst>
              <a:ext uri="{FF2B5EF4-FFF2-40B4-BE49-F238E27FC236}">
                <a16:creationId xmlns:a16="http://schemas.microsoft.com/office/drawing/2014/main" id="{7B8E078E-50D6-7B14-1512-90905BF02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791" y="2224900"/>
            <a:ext cx="2480523" cy="248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T助焊膏 助焊剂焊油 免清洗焊宝150g助焊接用-阿里巴巴">
            <a:extLst>
              <a:ext uri="{FF2B5EF4-FFF2-40B4-BE49-F238E27FC236}">
                <a16:creationId xmlns:a16="http://schemas.microsoft.com/office/drawing/2014/main" id="{D393BDFF-7A2A-2DE6-E1A0-A26A53C2A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591" y="2096207"/>
            <a:ext cx="3138053" cy="313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67C3AE5-E915-EC85-72F9-4DB9F7C058A6}"/>
              </a:ext>
            </a:extLst>
          </p:cNvPr>
          <p:cNvSpPr txBox="1"/>
          <p:nvPr/>
        </p:nvSpPr>
        <p:spPr>
          <a:xfrm>
            <a:off x="3232807" y="567546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等等。。。</a:t>
            </a:r>
          </a:p>
        </p:txBody>
      </p:sp>
    </p:spTree>
    <p:extLst>
      <p:ext uri="{BB962C8B-B14F-4D97-AF65-F5344CB8AC3E}">
        <p14:creationId xmlns:p14="http://schemas.microsoft.com/office/powerpoint/2010/main" val="4181326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21F5B-6F60-6DB4-0262-2A38751B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焊接用具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2A231-07EC-3D28-4325-AB07B0179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主要分三类：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锡材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加热工具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辅助用品</a:t>
            </a:r>
            <a:endParaRPr lang="zh-CN" altLang="en-US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152641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21F5B-6F60-6DB4-0262-2A38751B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焊接用具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2A231-07EC-3D28-4325-AB07B0179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烙铁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种类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内热型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外热型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C0F0D2-EF77-0FF6-E9E9-3C2B31471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849" y="1621971"/>
            <a:ext cx="5998171" cy="343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6839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21F5B-6F60-6DB4-0262-2A38751B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焊接用具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2A231-07EC-3D28-4325-AB07B0179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烙铁头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种类</a:t>
            </a: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尖头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圆锥头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一字头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刀头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马蹄头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7DAB99-FAB1-4B85-3C26-8CAB1BB2A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345692" y="783772"/>
            <a:ext cx="523875" cy="2590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575777-C148-5176-7BA4-B7FD5C16F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321879" y="1336222"/>
            <a:ext cx="571500" cy="27241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EACDDA-212A-B85C-0C0C-F3FC7EFE8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317116" y="1931533"/>
            <a:ext cx="581025" cy="2828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4D07548-CE78-5DB2-6572-1C94EABD9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336166" y="2745921"/>
            <a:ext cx="542925" cy="24955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06D5C2-E97D-27FC-B218-8EC2EE8BEB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341382" y="3233060"/>
            <a:ext cx="561975" cy="28194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7DD39F6-4435-A711-1C9E-93FCF3CD04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013601">
            <a:off x="5881009" y="4547058"/>
            <a:ext cx="9525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2185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2F819-4600-CA0D-CFCF-B436A035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572DD-6DF3-49CE-5FF0-4625AD85D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预热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烙铁头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300~350°C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左右即可（无铅焊锡可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380°C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具体观察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熔锡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焊锡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不熔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时可以适当加温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焊大器件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提高温度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，但要及时调回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焊接前使用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清洁海绵等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清理烙铁头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，保证焊接时的焊锡是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“新鲜”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488" lvl="1" indent="0">
              <a:buNone/>
            </a:pP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" descr="甘肃无铅锡线厂家_甘肃6337焊锡丝_甘肃环保焊锡丝厂家_甘肃无铅锡丝厂家">
            <a:extLst>
              <a:ext uri="{FF2B5EF4-FFF2-40B4-BE49-F238E27FC236}">
                <a16:creationId xmlns:a16="http://schemas.microsoft.com/office/drawing/2014/main" id="{E0780C07-E7DF-10E8-48D5-463A44B1B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57" y="4370564"/>
            <a:ext cx="2184132" cy="178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7890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2F819-4600-CA0D-CFCF-B436A035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572DD-6DF3-49CE-5FF0-4625AD85D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挂锡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预热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焊盘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引线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加锡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焊点呈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裙状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即可（大电流处可多加锡）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4" descr="40w欧标高档电烙铁 外热式电烙铁 生产厂家-阿里巴巴">
            <a:extLst>
              <a:ext uri="{FF2B5EF4-FFF2-40B4-BE49-F238E27FC236}">
                <a16:creationId xmlns:a16="http://schemas.microsoft.com/office/drawing/2014/main" id="{35AC358F-F6B6-BC38-7858-E5C51675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161" y="1164772"/>
            <a:ext cx="2160427" cy="170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焊点质量的标准要求都有哪些？ - 深圳市德正智能科技有限公司">
            <a:extLst>
              <a:ext uri="{FF2B5EF4-FFF2-40B4-BE49-F238E27FC236}">
                <a16:creationId xmlns:a16="http://schemas.microsoft.com/office/drawing/2014/main" id="{6DDB01E3-E664-AD4C-AC3A-49CF7C67A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306" y="3631679"/>
            <a:ext cx="3359294" cy="246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CB精密激光焊锡机 -激光锡焊机，激光焊锡机，激光熔接焊生产厂家">
            <a:extLst>
              <a:ext uri="{FF2B5EF4-FFF2-40B4-BE49-F238E27FC236}">
                <a16:creationId xmlns:a16="http://schemas.microsoft.com/office/drawing/2014/main" id="{6DE5747E-2E24-7633-2C62-935F59045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313" y="3784314"/>
            <a:ext cx="25812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1248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941B3-DA1C-FC74-541E-8AB1A812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EB36B-F36A-3158-844E-13AEB10C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上述方法适合：</a:t>
            </a:r>
            <a:endParaRPr lang="en-US" altLang="zh-CN" sz="2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直插器件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大一点的贴片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028" name="Picture 4" descr="RJ15 直插金属膜电阻【奥创电子】">
            <a:extLst>
              <a:ext uri="{FF2B5EF4-FFF2-40B4-BE49-F238E27FC236}">
                <a16:creationId xmlns:a16="http://schemas.microsoft.com/office/drawing/2014/main" id="{8A6F9B0F-4D81-9901-294A-C78C90BB0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993" y="1643221"/>
            <a:ext cx="2067560" cy="206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直插电容封装详细信息解析_颖特新科技">
            <a:extLst>
              <a:ext uri="{FF2B5EF4-FFF2-40B4-BE49-F238E27FC236}">
                <a16:creationId xmlns:a16="http://schemas.microsoft.com/office/drawing/2014/main" id="{36ECA678-D677-E1F3-1986-82E6F769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6553" y="1396684"/>
            <a:ext cx="2067560" cy="206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贴片电阻阻值识别">
            <a:extLst>
              <a:ext uri="{FF2B5EF4-FFF2-40B4-BE49-F238E27FC236}">
                <a16:creationId xmlns:a16="http://schemas.microsoft.com/office/drawing/2014/main" id="{60EFB40E-9DC6-F5FA-E9CE-AF89855B1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639" y="3677601"/>
            <a:ext cx="3675827" cy="234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0722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USB to TTL Converter UART module CH340G CH340 3.3V 5V Replace Pl2303 ...">
            <a:extLst>
              <a:ext uri="{FF2B5EF4-FFF2-40B4-BE49-F238E27FC236}">
                <a16:creationId xmlns:a16="http://schemas.microsoft.com/office/drawing/2014/main" id="{F00EA62B-3691-4423-2252-717FCD0CA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46" y="3710781"/>
            <a:ext cx="2435225" cy="243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关于Type-C接口的3种用法，你知道吗？个个很实用_行业新闻_顺宏康科技">
            <a:extLst>
              <a:ext uri="{FF2B5EF4-FFF2-40B4-BE49-F238E27FC236}">
                <a16:creationId xmlns:a16="http://schemas.microsoft.com/office/drawing/2014/main" id="{D064B359-8951-4FA4-1279-8CCFAE6E6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031" y="3710781"/>
            <a:ext cx="2702560" cy="270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38AE4CA-704E-8116-D605-94F59A11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981E28-9AA7-DBC8-6731-48B025BE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如要焊接一些，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针脚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密集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的原件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type-C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口、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FPC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一些芯片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刀头电烙铁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作为加热工具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引脚密集的地方不要放太多焊锡，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以防连锡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5541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941B3-DA1C-FC74-541E-8AB1A812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EB36B-F36A-3158-844E-13AEB10C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导线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单股导线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多股导线</a:t>
            </a:r>
            <a:endParaRPr lang="zh-CN" altLang="en-US" dirty="0"/>
          </a:p>
        </p:txBody>
      </p:sp>
      <p:pic>
        <p:nvPicPr>
          <p:cNvPr id="2050" name="Picture 2" descr="单股硬线BV电线-广州市凯圆电线电缆有限公司">
            <a:extLst>
              <a:ext uri="{FF2B5EF4-FFF2-40B4-BE49-F238E27FC236}">
                <a16:creationId xmlns:a16="http://schemas.microsoft.com/office/drawing/2014/main" id="{9DE3DC46-2BB2-D087-967E-0A717DABD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1323407"/>
            <a:ext cx="3147197" cy="238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05V-K电子线,单芯多股软线,无氧铜丝线,软导体线,全铜,电子电源控制排线 - 金万兴">
            <a:extLst>
              <a:ext uri="{FF2B5EF4-FFF2-40B4-BE49-F238E27FC236}">
                <a16:creationId xmlns:a16="http://schemas.microsoft.com/office/drawing/2014/main" id="{39F4AB6A-FB60-A883-4D05-58724692D6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6" t="22474" r="6098"/>
          <a:stretch/>
        </p:blipFill>
        <p:spPr bwMode="auto">
          <a:xfrm>
            <a:off x="5048250" y="3559111"/>
            <a:ext cx="2872333" cy="258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3726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941B3-DA1C-FC74-541E-8AB1A812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EB36B-F36A-3158-844E-13AEB10C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多股导线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，可使用：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预焊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插焊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0238" lvl="1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搭焊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FA94F3-82EB-E6F2-3ADA-51DDB114E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3" y="1580832"/>
            <a:ext cx="4147458" cy="15853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EF93D6-0B22-A4DB-A316-B6C4AA871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82" y="3429000"/>
            <a:ext cx="3169103" cy="23803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2F5CDE7-25EF-27D8-DC31-BF19E7561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517" y="3374508"/>
            <a:ext cx="2494077" cy="26042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2F3D447-5FB9-D2E9-F166-5CFE9F85631A}"/>
              </a:ext>
            </a:extLst>
          </p:cNvPr>
          <p:cNvSpPr txBox="1"/>
          <p:nvPr/>
        </p:nvSpPr>
        <p:spPr>
          <a:xfrm>
            <a:off x="718457" y="598963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助焊剂：增大焊锡张力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5321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针对一些触点在内部、烙铁头碰不到的元件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ESP32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芯片等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热风枪（或加热板、焊炉）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锡膏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3074" name="Picture 2" descr="ESP32-D0WD Espressif Systems 今天的价格 盛芯世纪科技有限公司">
            <a:extLst>
              <a:ext uri="{FF2B5EF4-FFF2-40B4-BE49-F238E27FC236}">
                <a16:creationId xmlns:a16="http://schemas.microsoft.com/office/drawing/2014/main" id="{BCE761DC-F730-6023-3E98-38C0499D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373" y="3063558"/>
            <a:ext cx="2926080" cy="292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32240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首先在焊盘上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涂抹锡膏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注意此处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不要涂抹过多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（防止连锡）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不确定的话可以熔化一下观察一下涂抹量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将芯片用镊子置于焊盘上，轻推边缘，尽量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焊锡的张力可以在小范围内让芯片回正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热风枪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吹焊盘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热风覆盖所有要焊的焊盘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风力不要太大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，防止吹走芯片或其他元件（可一点点增大风力）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温度一般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300°C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左右即可，具体看焊锡熔化情况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02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 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二次处理与拆卸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针脚焊连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电路断路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什么时候需要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拆卸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元件损坏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焊接错误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355270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二次处理与拆卸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加热工具（烙铁、热风枪）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锡膏、助焊剂、吸锡器（吸锡带）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766150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二次处理与拆卸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助焊剂：涂抹在焊点后再将焊锡熔化，可以增大焊锡的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张力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连锡处更容易分开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只要需要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重新熔化焊点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的地方，都要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涂助焊剂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吸锡器：将一些孔洞中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多余的锡吸出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吸锡带：清理焊盘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12" descr="NT助焊膏 助焊剂焊油 免清洗焊宝150g助焊接用-阿里巴巴">
            <a:extLst>
              <a:ext uri="{FF2B5EF4-FFF2-40B4-BE49-F238E27FC236}">
                <a16:creationId xmlns:a16="http://schemas.microsoft.com/office/drawing/2014/main" id="{88BB0CF6-17FB-3C02-864C-6FD038D86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03" y="4005707"/>
            <a:ext cx="2386939" cy="238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供应 135A半铝吸锡器 手动吸锡枪 吸锡泵吸锡泵 吸锡器-阿里巴巴">
            <a:extLst>
              <a:ext uri="{FF2B5EF4-FFF2-40B4-BE49-F238E27FC236}">
                <a16:creationId xmlns:a16="http://schemas.microsoft.com/office/drawing/2014/main" id="{5E4F23E4-CD9B-18FB-F2BB-8FB236C57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515" y="4071494"/>
            <a:ext cx="2321152" cy="232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焊无忧 低残渣免清洗吸锡线1515 2015 2515 3015 3515除锡吸锡带-阿里巴巴">
            <a:extLst>
              <a:ext uri="{FF2B5EF4-FFF2-40B4-BE49-F238E27FC236}">
                <a16:creationId xmlns:a16="http://schemas.microsoft.com/office/drawing/2014/main" id="{C3D7E90C-EF39-20B1-BDFA-15A142B0D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1" r="1941" b="18000"/>
          <a:stretch/>
        </p:blipFill>
        <p:spPr bwMode="auto">
          <a:xfrm>
            <a:off x="5548397" y="4005707"/>
            <a:ext cx="3238959" cy="215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36642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二次处理与拆卸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拆卸时，如只有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一个焊点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直接加热焊点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后用镊子拆下即可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多个焊点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分布范围较小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，可使用热风枪或刀头烙铁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同时熔化多个焊点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，再使用镊子取下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如焊点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分布较广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，则需使用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加热板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大面积熔锡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都不行的话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那就直接破拆吧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273253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05.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每焊完一部分，可以使用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万用表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检测一下焊接是否正确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具体方式：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短路检测档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针脚与焊盘是否连接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、检测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虚焊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如检测有问题则继续进行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二次处理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 descr="如何用万用表的“欧姆”档来判别一只二极管的正、负极？_环球电气之家">
            <a:extLst>
              <a:ext uri="{FF2B5EF4-FFF2-40B4-BE49-F238E27FC236}">
                <a16:creationId xmlns:a16="http://schemas.microsoft.com/office/drawing/2014/main" id="{AC32EDAF-7B15-8D57-14B5-EFFAB0B3E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34" t="29832" r="31331" b="53283"/>
          <a:stretch/>
        </p:blipFill>
        <p:spPr bwMode="auto">
          <a:xfrm>
            <a:off x="2423522" y="4322082"/>
            <a:ext cx="4296955" cy="202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43740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42EB0D5D-FA8C-C361-63B4-8C6FF9020C4C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84557E0-580C-FEA3-3532-97590A3E5AF2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944563" y="2693194"/>
            <a:ext cx="7754937" cy="1471612"/>
          </a:xfrm>
        </p:spPr>
        <p:txBody>
          <a:bodyPr/>
          <a:lstStyle/>
          <a:p>
            <a:pPr algn="ctr"/>
            <a:r>
              <a:rPr lang="zh-CN" altLang="en-US" sz="4800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洞洞板的焊接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69374561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10080-09FD-B9F3-6C5E-1D34D437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洞洞板的焊接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3D3AD-EA86-FB09-D19A-AFDBF882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电赛时间较为紧迫，比赛时的制作的电路通常会选择使用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洞洞板（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2.54mm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单面板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 descr="洞洞板”（万用电路板）的选择和焊接使用技巧">
            <a:extLst>
              <a:ext uri="{FF2B5EF4-FFF2-40B4-BE49-F238E27FC236}">
                <a16:creationId xmlns:a16="http://schemas.microsoft.com/office/drawing/2014/main" id="{5DC46DA5-98EA-669C-A7CE-904391DC4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" y="2880360"/>
            <a:ext cx="3627120" cy="2720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洞洞板”（万用电路板）的选择和焊接使用技巧">
            <a:extLst>
              <a:ext uri="{FF2B5EF4-FFF2-40B4-BE49-F238E27FC236}">
                <a16:creationId xmlns:a16="http://schemas.microsoft.com/office/drawing/2014/main" id="{0FD36FD7-4822-48C3-DB35-A898D6443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496" y="2957436"/>
            <a:ext cx="3627120" cy="2643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76776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8F65F-A836-A7D9-21AA-A1DC6AA7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洞洞板的焊接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1F4A28-16A4-3CD6-6549-28061F09D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电路制作流程：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放置元件：提前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规划好元件的位置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，以防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位置不够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元件一般是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直插式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尺寸合适的贴片式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也能用，指：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0805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及以上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的贴片电阻电容）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可以使用专门用来布局洞洞板的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LochMaster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连电路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焊锡做电路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飞线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626181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B443A-EA4E-3E5A-58DF-02ECB1D1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洞洞板的焊接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4AE20-0B22-7EC3-3A03-5D118A3E1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焊锡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做电路：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在电路的通路上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预先加一些焊锡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将烙铁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置于两点间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添加焊锡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，将两点连接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连接时要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间隔连接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（先让每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两点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连接上）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如出现一处连接后，另一处又断掉了，可以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加快焊连的速度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降低烙铁头温度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（在另一边熔化前焊上）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选择飞线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" descr="洞洞板”（万用电路板）的选择和焊接使用技巧">
            <a:extLst>
              <a:ext uri="{FF2B5EF4-FFF2-40B4-BE49-F238E27FC236}">
                <a16:creationId xmlns:a16="http://schemas.microsoft.com/office/drawing/2014/main" id="{240B2317-858A-B48E-1D0A-3CAF6902A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325" y="4230507"/>
            <a:ext cx="292608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96538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B443A-EA4E-3E5A-58DF-02ECB1D1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洞洞板的焊接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4AE20-0B22-7EC3-3A03-5D118A3E1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飞线：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用导线大致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比量一下两个焊接点的距离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预留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出一点，使用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剪线钳剪断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线两端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剥去绝缘层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插入焊盘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中，尽量让线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紧贴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着板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直插式元件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焊接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对于模拟信号的测量时，尽量让线避免过多交叠，减少电磁干扰</a:t>
            </a:r>
            <a:endParaRPr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38831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文本框 16" hidden="1"/>
          <p:cNvSpPr txBox="1">
            <a:spLocks noChangeArrowheads="1"/>
          </p:cNvSpPr>
          <p:nvPr/>
        </p:nvSpPr>
        <p:spPr bwMode="auto">
          <a:xfrm>
            <a:off x="3586163" y="3483769"/>
            <a:ext cx="173797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>
                <a:solidFill>
                  <a:srgbClr val="007BC6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Company </a:t>
            </a:r>
            <a:r>
              <a:rPr lang="en-US" altLang="zh-CN" sz="2100" b="1">
                <a:solidFill>
                  <a:srgbClr val="2C344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name</a:t>
            </a:r>
            <a:endParaRPr lang="zh-CN" altLang="en-US" sz="2100" b="1">
              <a:solidFill>
                <a:srgbClr val="2C3441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38914" name="文本框 17" hidden="1"/>
          <p:cNvSpPr txBox="1">
            <a:spLocks noChangeArrowheads="1"/>
          </p:cNvSpPr>
          <p:nvPr/>
        </p:nvSpPr>
        <p:spPr bwMode="auto">
          <a:xfrm>
            <a:off x="2713435" y="2992041"/>
            <a:ext cx="278518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>
                <a:solidFill>
                  <a:srgbClr val="007BC6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2015 </a:t>
            </a:r>
            <a:r>
              <a:rPr lang="en-US" altLang="zh-CN" sz="2100" b="1">
                <a:solidFill>
                  <a:srgbClr val="2C344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ANNUAL SUMMARY</a:t>
            </a:r>
            <a:endParaRPr lang="zh-CN" altLang="en-US" sz="2100" b="1">
              <a:solidFill>
                <a:srgbClr val="2C3441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31"/>
          <a:stretch/>
        </p:blipFill>
        <p:spPr>
          <a:xfrm>
            <a:off x="1371600" y="1572901"/>
            <a:ext cx="6400800" cy="27756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24799AB-E565-6FAE-75D5-7B7141101E12}"/>
              </a:ext>
            </a:extLst>
          </p:cNvPr>
          <p:cNvSpPr txBox="1"/>
          <p:nvPr/>
        </p:nvSpPr>
        <p:spPr>
          <a:xfrm>
            <a:off x="2617807" y="4277551"/>
            <a:ext cx="3908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纸上得来终觉浅  绝知此事要躬行</a:t>
            </a:r>
          </a:p>
        </p:txBody>
      </p:sp>
    </p:spTree>
    <p:extLst>
      <p:ext uri="{BB962C8B-B14F-4D97-AF65-F5344CB8AC3E}">
        <p14:creationId xmlns:p14="http://schemas.microsoft.com/office/powerpoint/2010/main" val="297482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WG_PPTtemplate_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WG_PPTtemplate_white">
      <a:majorFont>
        <a:latin typeface="华文新魏"/>
        <a:ea typeface="华文新魏"/>
        <a:cs typeface="Arial"/>
      </a:majorFont>
      <a:minorFont>
        <a:latin typeface="华文新魏"/>
        <a:ea typeface="华文新魏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algn="ctr">
          <a:lnSpc>
            <a:spcPct val="150000"/>
          </a:lnSpc>
          <a:defRPr sz="900" kern="0" dirty="0">
            <a:solidFill>
              <a:prstClr val="black">
                <a:lumMod val="85000"/>
                <a:lumOff val="15000"/>
              </a:prstClr>
            </a:solidFill>
            <a:ea typeface="微软雅黑" panose="020B0503020204020204" pitchFamily="34" charset="-122"/>
            <a:cs typeface="Arial" panose="020B0604020202020204" pitchFamily="34" charset="0"/>
            <a:sym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txDef>
  </a:objectDefaults>
  <a:extraClrSchemeLst>
    <a:extraClrScheme>
      <a:clrScheme name="MWG_PPTtemplate_whi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WG_PPTtemplate_whit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WG_PPTtemplate_whit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ntel3.0-blue">
  <a:themeElements>
    <a:clrScheme name="">
      <a:dk1>
        <a:srgbClr val="000000"/>
      </a:dk1>
      <a:lt1>
        <a:srgbClr val="FFFFFF"/>
      </a:lt1>
      <a:dk2>
        <a:srgbClr val="0860A8"/>
      </a:dk2>
      <a:lt2>
        <a:srgbClr val="000000"/>
      </a:lt2>
      <a:accent1>
        <a:srgbClr val="009900"/>
      </a:accent1>
      <a:accent2>
        <a:srgbClr val="FF5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E75300"/>
      </a:accent6>
      <a:hlink>
        <a:srgbClr val="AA014C"/>
      </a:hlink>
      <a:folHlink>
        <a:srgbClr val="567EB9"/>
      </a:folHlink>
    </a:clrScheme>
    <a:fontScheme name="1_intel3.0-blu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</a:defRPr>
        </a:defPPr>
      </a:lstStyle>
    </a:lnDef>
  </a:objectDefaults>
  <a:extraClrSchemeLst>
    <a:extraClrScheme>
      <a:clrScheme name="1_intel3.0-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tel3.0-blu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ntel3.0-blu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MWG_PPTtemplate_white</Template>
  <TotalTime>32706</TotalTime>
  <Words>1153</Words>
  <Application>Microsoft Office PowerPoint</Application>
  <PresentationFormat>全屏显示(4:3)</PresentationFormat>
  <Paragraphs>155</Paragraphs>
  <Slides>26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方正兰亭超细黑简体</vt:lpstr>
      <vt:lpstr>华文新魏</vt:lpstr>
      <vt:lpstr>宋体</vt:lpstr>
      <vt:lpstr>微软雅黑</vt:lpstr>
      <vt:lpstr>Arial</vt:lpstr>
      <vt:lpstr>High Tower Text</vt:lpstr>
      <vt:lpstr>Times New Roman</vt:lpstr>
      <vt:lpstr>Verdana</vt:lpstr>
      <vt:lpstr>Wingdings</vt:lpstr>
      <vt:lpstr>MWG_PPTtemplate_white</vt:lpstr>
      <vt:lpstr>1_intel3.0-blue</vt:lpstr>
      <vt:lpstr>PowerPoint 演示文稿</vt:lpstr>
      <vt:lpstr>PowerPoint 演示文稿</vt:lpstr>
      <vt:lpstr>01. 何处需要焊接</vt:lpstr>
      <vt:lpstr>02. 焊接用具</vt:lpstr>
      <vt:lpstr>02. 焊接用具</vt:lpstr>
      <vt:lpstr>02. 焊接用具</vt:lpstr>
      <vt:lpstr>02. 焊接用具</vt:lpstr>
      <vt:lpstr>03. 如何焊接</vt:lpstr>
      <vt:lpstr>03. 如何焊接</vt:lpstr>
      <vt:lpstr>03. 如何焊接</vt:lpstr>
      <vt:lpstr>03. 如何焊接</vt:lpstr>
      <vt:lpstr>03. 如何焊接</vt:lpstr>
      <vt:lpstr>03. 如何焊接</vt:lpstr>
      <vt:lpstr>03. 如何焊接</vt:lpstr>
      <vt:lpstr>03. 如何焊接</vt:lpstr>
      <vt:lpstr>04. 二次处理与拆卸</vt:lpstr>
      <vt:lpstr>04.二次处理与拆卸</vt:lpstr>
      <vt:lpstr>04.二次处理与拆卸</vt:lpstr>
      <vt:lpstr>04.二次处理与拆卸</vt:lpstr>
      <vt:lpstr>05.检测 </vt:lpstr>
      <vt:lpstr>洞洞板的焊接</vt:lpstr>
      <vt:lpstr>洞洞板的焊接</vt:lpstr>
      <vt:lpstr>洞洞板的焊接</vt:lpstr>
      <vt:lpstr>洞洞板的焊接</vt:lpstr>
      <vt:lpstr>洞洞板的焊接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贝叶斯估计</dc:title>
  <dc:creator>snow</dc:creator>
  <cp:lastModifiedBy>昊楠 于</cp:lastModifiedBy>
  <cp:revision>1515</cp:revision>
  <dcterms:created xsi:type="dcterms:W3CDTF">2007-03-19T09:27:56Z</dcterms:created>
  <dcterms:modified xsi:type="dcterms:W3CDTF">2024-04-12T08:59:11Z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Type">
    <vt:lpwstr>Presentations</vt:lpwstr>
  </property>
</Properties>
</file>